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315496"/>
    <a:srgbClr val="FFD300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43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04415-9EC2-4840-8A90-A6B3F0D4A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C5B6F-9984-40AB-8616-E8474DB06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EF8C4-7DBF-4A47-A2B3-C8676E415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92CF5-FBA2-43CE-B5C1-72D86B114D31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09ED8-FA76-4B81-8A26-8E94B92F9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EF800-9502-4F8B-9AF6-B2DE459F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BF49C-A0E8-4D70-8819-C20D6674A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77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BA480-5B31-40C3-8104-4935ADDC0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18CB1-EF3E-4CFB-8385-333876DB9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585E-8600-43E9-99FA-755FFE460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92CF5-FBA2-43CE-B5C1-72D86B114D31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53C56-CDA3-4667-9306-5620F8F4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F8C52-E67D-4F5D-8CB4-A8EC73D3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BF49C-A0E8-4D70-8819-C20D6674A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8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8E621-2437-4CA2-B643-9B0B1F5BE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EA162-7DE3-458F-B352-FBF65740E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983DF-8C49-4F0D-80E9-CFF3A1015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92CF5-FBA2-43CE-B5C1-72D86B114D31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21AAD-A819-4FF9-8EA2-B41E1E531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45B5E-F411-4CF4-BEDB-FE299889C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BF49C-A0E8-4D70-8819-C20D6674A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750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58FCB-84B4-410F-800E-6349130DE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BE10F-92CB-43AB-A31F-161E9107E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12DD7-4FF6-41B0-9BDA-525308792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FBB8F-1657-47E7-B327-954CC640D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92CF5-FBA2-43CE-B5C1-72D86B114D31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BA77F-7FEC-46D8-8878-D20EB92B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991A0-BCB3-4591-9556-2B282DF1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BF49C-A0E8-4D70-8819-C20D6674A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485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A4628-71B5-480D-9E4D-52276D506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520B1-FDF2-4466-98E3-A2C55CD09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2252F-470B-41BB-9C74-5EA8616F1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7AB44D-6A7B-4329-95D4-CB710D645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F9AE3-F6CB-4FBF-849A-A5CC3921B7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15CA34-4974-4A47-B89E-5FCA1B591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92CF5-FBA2-43CE-B5C1-72D86B114D31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403ACE-EDEC-4B72-926F-0945001C3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936D2D-F2A5-4331-BB3E-19CC9B078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BF49C-A0E8-4D70-8819-C20D6674A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75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A715E-E276-48ED-B574-DC7C63E05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BEF6F-893E-454F-8E9F-48EC80AC3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92CF5-FBA2-43CE-B5C1-72D86B114D31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B37F3C-3200-49C5-BFDC-223F0311C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E4537-0974-495B-9424-6719C181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BF49C-A0E8-4D70-8819-C20D6674A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02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6AD620-2FAC-4F7C-B0EE-111449E0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92CF5-FBA2-43CE-B5C1-72D86B114D31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ACDF6-BF4C-4ADB-9AE4-ABE6A49A3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A416E-9798-4D2F-8BA3-9376CACFD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BF49C-A0E8-4D70-8819-C20D6674A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867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A51F-8740-4FE8-9283-282A0F52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5AF6A-EC23-4C6E-9B4B-88B963829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D47C8-9969-463F-9E72-95B507D95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6FE9D-8EA7-4A33-8CEC-7FA87337F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92CF5-FBA2-43CE-B5C1-72D86B114D31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FBF8D-3AA7-4DAD-8FB9-033935B9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F9DAF-3109-4238-98FE-F1DD7FE19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BF49C-A0E8-4D70-8819-C20D6674A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532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02255-D760-442A-A81B-4CF15B36A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E8E3D-DB87-44D7-8686-721E133852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A6073-E3A3-414B-B59F-DD279ABFB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77FA8-78FD-437C-83A5-8B06633DB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92CF5-FBA2-43CE-B5C1-72D86B114D31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BCC60-813E-4F7C-B7D5-A4D24D68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5EAF9-5B5E-47FD-9B64-982094D48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BF49C-A0E8-4D70-8819-C20D6674A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324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1EC4-B208-4475-8B1C-D7AC1F7C6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E8AD7-6F2C-4D65-BEF2-25C701673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6E2F4-A65D-4940-AA7C-1C316A210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92CF5-FBA2-43CE-B5C1-72D86B114D31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EF6D4-FB03-469E-AF9A-C07206185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0BD97-1C12-4B74-9E67-3CA5DC1D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BF49C-A0E8-4D70-8819-C20D6674A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49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9E051D-DECF-4D20-BAF9-D46B6EC70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CD4AE-9231-4B56-A09F-2C4831FCB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9CB16-8B41-4FF1-AB53-58ABE32B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92CF5-FBA2-43CE-B5C1-72D86B114D31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75271-8F8B-474D-90ED-94C24EB7C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01880-404E-4322-8742-354AC7BDD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BF49C-A0E8-4D70-8819-C20D6674A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364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1D08BB-F3C3-4423-A2B0-EAE820B56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0F0DD-A94B-43D2-BBE1-7613A8E34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29BCF-A834-4482-821F-91EE7C32F8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92CF5-FBA2-43CE-B5C1-72D86B114D31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52C43-887B-423D-B8F7-53A111FDF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21A28-1A46-4101-B06E-216F243AF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BF49C-A0E8-4D70-8819-C20D6674A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58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2000">
              <a:srgbClr val="FFD300"/>
            </a:gs>
            <a:gs pos="100000">
              <a:schemeClr val="accent6">
                <a:lumMod val="60000"/>
                <a:lumOff val="40000"/>
              </a:schemeClr>
            </a:gs>
          </a:gsLst>
          <a:lin ang="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A4DA89-166A-454E-8E0D-EDB775ECE957}"/>
              </a:ext>
            </a:extLst>
          </p:cNvPr>
          <p:cNvSpPr txBox="1"/>
          <p:nvPr/>
        </p:nvSpPr>
        <p:spPr>
          <a:xfrm>
            <a:off x="2422248" y="2598003"/>
            <a:ext cx="7347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 err="1">
                <a:latin typeface="Arial Black" panose="020B0A04020102020204" pitchFamily="34" charset="0"/>
              </a:rPr>
              <a:t>Blink</a:t>
            </a:r>
            <a:r>
              <a:rPr lang="en-IN" sz="4800" dirty="0" err="1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it</a:t>
            </a:r>
            <a:r>
              <a:rPr lang="en-IN" sz="48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IN" sz="4800" dirty="0">
                <a:latin typeface="Arial Black" panose="020B0A04020102020204" pitchFamily="34" charset="0"/>
              </a:rPr>
              <a:t>dat</a:t>
            </a:r>
            <a:r>
              <a:rPr lang="en-IN" sz="48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a</a:t>
            </a:r>
            <a:r>
              <a:rPr lang="en-IN" sz="4800" dirty="0">
                <a:latin typeface="Arial Black" panose="020B0A04020102020204" pitchFamily="34" charset="0"/>
              </a:rPr>
              <a:t> Analy</a:t>
            </a:r>
            <a:r>
              <a:rPr lang="en-IN" sz="48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sis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0DAFE28-68D9-4805-9F13-815E5A8A6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419" y="106520"/>
            <a:ext cx="711855" cy="7684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F0FFC7-B808-4456-80CF-EDFF7C800771}"/>
              </a:ext>
            </a:extLst>
          </p:cNvPr>
          <p:cNvSpPr txBox="1"/>
          <p:nvPr/>
        </p:nvSpPr>
        <p:spPr>
          <a:xfrm>
            <a:off x="3611216" y="3429000"/>
            <a:ext cx="4969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Using Power Bi</a:t>
            </a:r>
            <a:endParaRPr lang="en-IN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BEC258-68FF-4A9A-B99F-8CBF6B0497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834" y="5328689"/>
            <a:ext cx="4204978" cy="180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3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2000">
              <a:srgbClr val="FFD300"/>
            </a:gs>
            <a:gs pos="100000">
              <a:schemeClr val="accent6">
                <a:lumMod val="60000"/>
                <a:lumOff val="40000"/>
              </a:schemeClr>
            </a:gs>
          </a:gsLst>
          <a:lin ang="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A4DA89-166A-454E-8E0D-EDB775ECE957}"/>
              </a:ext>
            </a:extLst>
          </p:cNvPr>
          <p:cNvSpPr txBox="1"/>
          <p:nvPr/>
        </p:nvSpPr>
        <p:spPr>
          <a:xfrm>
            <a:off x="4042741" y="228599"/>
            <a:ext cx="4106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err="1">
                <a:latin typeface="Arial Black" panose="020B0A04020102020204" pitchFamily="34" charset="0"/>
              </a:rPr>
              <a:t>blink</a:t>
            </a:r>
            <a:r>
              <a:rPr lang="en-IN" sz="3600" dirty="0" err="1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it</a:t>
            </a:r>
            <a:r>
              <a:rPr lang="en-IN" sz="3600" dirty="0">
                <a:latin typeface="Arial Black" panose="020B0A04020102020204" pitchFamily="34" charset="0"/>
              </a:rPr>
              <a:t> Analy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sis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0DAFE28-68D9-4805-9F13-815E5A8A6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419" y="106520"/>
            <a:ext cx="711855" cy="7684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6F87DE-2B74-4C98-BAE3-0071A2A1F6E6}"/>
              </a:ext>
            </a:extLst>
          </p:cNvPr>
          <p:cNvSpPr txBox="1"/>
          <p:nvPr/>
        </p:nvSpPr>
        <p:spPr>
          <a:xfrm>
            <a:off x="970274" y="1760670"/>
            <a:ext cx="8537713" cy="4611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Requirement Gathering/ Business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Walkthrough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Connection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Cleaning / Quality Check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Modeling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DAX Calculations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Dashboard Lay outing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Charts Development and Formatting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Dashboard / Report Development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Insights Generation</a:t>
            </a:r>
            <a:endParaRPr lang="en-IN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F791B2-50BF-45A2-A04D-2DBF5F39E0F3}"/>
              </a:ext>
            </a:extLst>
          </p:cNvPr>
          <p:cNvSpPr txBox="1"/>
          <p:nvPr/>
        </p:nvSpPr>
        <p:spPr>
          <a:xfrm>
            <a:off x="568075" y="1174519"/>
            <a:ext cx="6949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315496"/>
                </a:solidFill>
                <a:latin typeface="Arial Black" panose="020B0A04020102020204" pitchFamily="34" charset="0"/>
              </a:rPr>
              <a:t>STEPS IN PROJECT</a:t>
            </a:r>
            <a:endParaRPr lang="en-IN" sz="2400" dirty="0">
              <a:solidFill>
                <a:srgbClr val="315496"/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0D11F9-D3F4-42A7-95DB-37586EAE7C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834" y="5328689"/>
            <a:ext cx="4204978" cy="180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11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2000">
              <a:srgbClr val="FFD300"/>
            </a:gs>
            <a:gs pos="100000">
              <a:schemeClr val="accent6">
                <a:lumMod val="60000"/>
                <a:lumOff val="40000"/>
              </a:schemeClr>
            </a:gs>
          </a:gsLst>
          <a:lin ang="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A4DA89-166A-454E-8E0D-EDB775ECE957}"/>
              </a:ext>
            </a:extLst>
          </p:cNvPr>
          <p:cNvSpPr txBox="1"/>
          <p:nvPr/>
        </p:nvSpPr>
        <p:spPr>
          <a:xfrm>
            <a:off x="4042741" y="228599"/>
            <a:ext cx="4106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err="1">
                <a:latin typeface="Arial Black" panose="020B0A04020102020204" pitchFamily="34" charset="0"/>
              </a:rPr>
              <a:t>blink</a:t>
            </a:r>
            <a:r>
              <a:rPr lang="en-IN" sz="3600" dirty="0" err="1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it</a:t>
            </a:r>
            <a:r>
              <a:rPr lang="en-IN" sz="3600" dirty="0">
                <a:latin typeface="Arial Black" panose="020B0A04020102020204" pitchFamily="34" charset="0"/>
              </a:rPr>
              <a:t> Analy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sis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0DAFE28-68D9-4805-9F13-815E5A8A6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419" y="106520"/>
            <a:ext cx="711855" cy="7684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6F87DE-2B74-4C98-BAE3-0071A2A1F6E6}"/>
              </a:ext>
            </a:extLst>
          </p:cNvPr>
          <p:cNvSpPr txBox="1"/>
          <p:nvPr/>
        </p:nvSpPr>
        <p:spPr>
          <a:xfrm>
            <a:off x="860943" y="1790871"/>
            <a:ext cx="8243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To conduct a comprehensive analysis of </a:t>
            </a:r>
            <a:r>
              <a:rPr lang="en-U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Blinkit's</a:t>
            </a: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 sales performance, customer satisfaction, and inventory distribution to identify key insights and opportunities for optimization using various KPIs and visualizations in Power BI.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F791B2-50BF-45A2-A04D-2DBF5F39E0F3}"/>
              </a:ext>
            </a:extLst>
          </p:cNvPr>
          <p:cNvSpPr txBox="1"/>
          <p:nvPr/>
        </p:nvSpPr>
        <p:spPr>
          <a:xfrm>
            <a:off x="612677" y="1038476"/>
            <a:ext cx="6949332" cy="577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315496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A93767-53A3-4930-AC3A-012C67EAE8AC}"/>
              </a:ext>
            </a:extLst>
          </p:cNvPr>
          <p:cNvSpPr txBox="1"/>
          <p:nvPr/>
        </p:nvSpPr>
        <p:spPr>
          <a:xfrm>
            <a:off x="860943" y="3245366"/>
            <a:ext cx="8243300" cy="216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KPI's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1. Total Sales: The overall revenue generated from all items sold.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2. Average Sales: The average revenue per sale.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3. Number of Items: The total count of different items sold.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4. Average Rating: The average customer rating for items sold.</a:t>
            </a:r>
            <a:endParaRPr lang="en-IN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91F02A-46C2-48A0-9D87-3F7E5AACAE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834" y="5328689"/>
            <a:ext cx="4204978" cy="180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67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2000">
              <a:srgbClr val="FFD300"/>
            </a:gs>
            <a:gs pos="100000">
              <a:schemeClr val="accent6">
                <a:lumMod val="60000"/>
                <a:lumOff val="40000"/>
              </a:schemeClr>
            </a:gs>
          </a:gsLst>
          <a:lin ang="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A4DA89-166A-454E-8E0D-EDB775ECE957}"/>
              </a:ext>
            </a:extLst>
          </p:cNvPr>
          <p:cNvSpPr txBox="1"/>
          <p:nvPr/>
        </p:nvSpPr>
        <p:spPr>
          <a:xfrm>
            <a:off x="4042741" y="228599"/>
            <a:ext cx="4106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err="1">
                <a:latin typeface="Arial Black" panose="020B0A04020102020204" pitchFamily="34" charset="0"/>
              </a:rPr>
              <a:t>blink</a:t>
            </a:r>
            <a:r>
              <a:rPr lang="en-IN" sz="3600" dirty="0" err="1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it</a:t>
            </a:r>
            <a:r>
              <a:rPr lang="en-IN" sz="3600" dirty="0">
                <a:latin typeface="Arial Black" panose="020B0A04020102020204" pitchFamily="34" charset="0"/>
              </a:rPr>
              <a:t> Analy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sis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0DAFE28-68D9-4805-9F13-815E5A8A6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419" y="106520"/>
            <a:ext cx="711855" cy="7684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F791B2-50BF-45A2-A04D-2DBF5F39E0F3}"/>
              </a:ext>
            </a:extLst>
          </p:cNvPr>
          <p:cNvSpPr txBox="1"/>
          <p:nvPr/>
        </p:nvSpPr>
        <p:spPr>
          <a:xfrm>
            <a:off x="614346" y="1032236"/>
            <a:ext cx="6949332" cy="577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315496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9E09E0-E592-4C8E-843D-31D174D2DBCA}"/>
              </a:ext>
            </a:extLst>
          </p:cNvPr>
          <p:cNvSpPr txBox="1"/>
          <p:nvPr/>
        </p:nvSpPr>
        <p:spPr>
          <a:xfrm>
            <a:off x="970274" y="2187296"/>
            <a:ext cx="10082040" cy="3832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1. Total Sales by Fat Content:</a:t>
            </a:r>
          </a:p>
          <a:p>
            <a:pPr marL="457200" lvl="2">
              <a:lnSpc>
                <a:spcPct val="150000"/>
              </a:lnSpc>
            </a:pPr>
            <a:r>
              <a:rPr lang="en-US" sz="1600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Objective: Analyze the impact of fat content on total sales.</a:t>
            </a:r>
          </a:p>
          <a:p>
            <a:pPr marL="457200" lvl="2">
              <a:lnSpc>
                <a:spcPct val="150000"/>
              </a:lnSpc>
            </a:pPr>
            <a:r>
              <a:rPr lang="en-US" sz="1600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Additional KPI Metrics: Assess how other KPIs (Average Sales, Number of Items, Average Rating) vary with fat content.</a:t>
            </a:r>
          </a:p>
          <a:p>
            <a:pPr marL="457200" lvl="2">
              <a:lnSpc>
                <a:spcPct val="150000"/>
              </a:lnSpc>
            </a:pPr>
            <a:r>
              <a:rPr lang="en-US" sz="1600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Chart Type: Donut Chart.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2. Total Sales by Item Type:</a:t>
            </a:r>
          </a:p>
          <a:p>
            <a:pPr marL="457200" lvl="2">
              <a:lnSpc>
                <a:spcPct val="150000"/>
              </a:lnSpc>
            </a:pPr>
            <a:r>
              <a:rPr lang="en-US" sz="16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Objective: Identify the performance of different item types in terms of total sales.</a:t>
            </a:r>
          </a:p>
          <a:p>
            <a:pPr marL="457200" lvl="2">
              <a:lnSpc>
                <a:spcPct val="150000"/>
              </a:lnSpc>
            </a:pPr>
            <a:r>
              <a:rPr lang="en-US" sz="16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Additional KPI Metrics: Assess how other KPIs (Average Sales, Number of Items, Average Rating) vary with fat content.</a:t>
            </a:r>
          </a:p>
          <a:p>
            <a:pPr marL="457200" lvl="2">
              <a:lnSpc>
                <a:spcPct val="150000"/>
              </a:lnSpc>
            </a:pPr>
            <a:r>
              <a:rPr lang="en-US" sz="16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Chart Type: Bar Chart.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DC730F-C85F-4D24-9A3F-3BF971359B43}"/>
              </a:ext>
            </a:extLst>
          </p:cNvPr>
          <p:cNvSpPr txBox="1"/>
          <p:nvPr/>
        </p:nvSpPr>
        <p:spPr>
          <a:xfrm>
            <a:off x="860943" y="1609766"/>
            <a:ext cx="6949332" cy="50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Chart's Requirements</a:t>
            </a:r>
            <a:endParaRPr lang="en-IN" sz="2000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2A2338-AF92-4403-B4D8-21699B33B0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834" y="5328689"/>
            <a:ext cx="4204978" cy="180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4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2000">
              <a:srgbClr val="FFD300"/>
            </a:gs>
            <a:gs pos="100000">
              <a:schemeClr val="accent6">
                <a:lumMod val="60000"/>
                <a:lumOff val="40000"/>
              </a:schemeClr>
            </a:gs>
          </a:gsLst>
          <a:lin ang="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A4DA89-166A-454E-8E0D-EDB775ECE957}"/>
              </a:ext>
            </a:extLst>
          </p:cNvPr>
          <p:cNvSpPr txBox="1"/>
          <p:nvPr/>
        </p:nvSpPr>
        <p:spPr>
          <a:xfrm>
            <a:off x="4042741" y="228599"/>
            <a:ext cx="4106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err="1">
                <a:latin typeface="Arial Black" panose="020B0A04020102020204" pitchFamily="34" charset="0"/>
              </a:rPr>
              <a:t>blink</a:t>
            </a:r>
            <a:r>
              <a:rPr lang="en-IN" sz="3600" dirty="0" err="1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it</a:t>
            </a:r>
            <a:r>
              <a:rPr lang="en-IN" sz="3600" dirty="0">
                <a:latin typeface="Arial Black" panose="020B0A04020102020204" pitchFamily="34" charset="0"/>
              </a:rPr>
              <a:t> Analy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sis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0DAFE28-68D9-4805-9F13-815E5A8A6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419" y="106520"/>
            <a:ext cx="711855" cy="7684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F791B2-50BF-45A2-A04D-2DBF5F39E0F3}"/>
              </a:ext>
            </a:extLst>
          </p:cNvPr>
          <p:cNvSpPr txBox="1"/>
          <p:nvPr/>
        </p:nvSpPr>
        <p:spPr>
          <a:xfrm>
            <a:off x="623881" y="1038530"/>
            <a:ext cx="6949332" cy="577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315496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9E09E0-E592-4C8E-843D-31D174D2DBCA}"/>
              </a:ext>
            </a:extLst>
          </p:cNvPr>
          <p:cNvSpPr txBox="1"/>
          <p:nvPr/>
        </p:nvSpPr>
        <p:spPr>
          <a:xfrm>
            <a:off x="970274" y="2166730"/>
            <a:ext cx="10082040" cy="498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3. Fat Content by Outlet for Total Sales:</a:t>
            </a:r>
          </a:p>
          <a:p>
            <a:pPr marL="457200" lvl="2">
              <a:lnSpc>
                <a:spcPct val="150000"/>
              </a:lnSpc>
            </a:pPr>
            <a:r>
              <a:rPr lang="en-US" sz="16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Objective: Compare total sales across different outlets segmented by fat content.</a:t>
            </a:r>
          </a:p>
          <a:p>
            <a:pPr marL="457200" lvl="2">
              <a:lnSpc>
                <a:spcPct val="150000"/>
              </a:lnSpc>
            </a:pPr>
            <a:r>
              <a:rPr lang="en-US" sz="16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Additional KPI Metrics: Assess how other KPIs (Average Sales, Number of Items, Average Rating) vary with fat content.</a:t>
            </a:r>
          </a:p>
          <a:p>
            <a:pPr marL="457200" lvl="2">
              <a:lnSpc>
                <a:spcPct val="150000"/>
              </a:lnSpc>
            </a:pPr>
            <a:r>
              <a:rPr lang="en-US" sz="16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Chart Type: Stacked Column Chart.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4. Total Sales by Outlet Establishment:</a:t>
            </a:r>
          </a:p>
          <a:p>
            <a:pPr marL="457200" lvl="2">
              <a:lnSpc>
                <a:spcPct val="150000"/>
              </a:lnSpc>
            </a:pPr>
            <a:r>
              <a:rPr lang="en-US" sz="16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Objective: Evaluate how the age or type of outlet establishment influences total sales.</a:t>
            </a:r>
          </a:p>
          <a:p>
            <a:pPr marL="457200" lvl="2">
              <a:lnSpc>
                <a:spcPct val="150000"/>
              </a:lnSpc>
            </a:pPr>
            <a:r>
              <a:rPr lang="en-US" sz="16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Chart Type: Line Chart.</a:t>
            </a:r>
          </a:p>
          <a:p>
            <a:pPr marL="0" lvl="2">
              <a:lnSpc>
                <a:spcPct val="150000"/>
              </a:lnSpc>
            </a:pPr>
            <a:r>
              <a:rPr lang="en-US"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>5. Sales by Outlet Size:</a:t>
            </a:r>
          </a:p>
          <a:p>
            <a:pPr marL="457200" lvl="2">
              <a:lnSpc>
                <a:spcPct val="150000"/>
              </a:lnSpc>
            </a:pPr>
            <a:r>
              <a:rPr lang="en-US" sz="16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Objective: Analyze the correlation between outlet size and total sales.</a:t>
            </a:r>
          </a:p>
          <a:p>
            <a:pPr marL="457200" lvl="2">
              <a:lnSpc>
                <a:spcPct val="150000"/>
              </a:lnSpc>
            </a:pPr>
            <a:r>
              <a:rPr lang="en-US" sz="16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Chart Type: Donut/ Pie Chart.</a:t>
            </a:r>
          </a:p>
          <a:p>
            <a:pPr marL="457200" lvl="2">
              <a:lnSpc>
                <a:spcPct val="150000"/>
              </a:lnSpc>
            </a:pPr>
            <a:endParaRPr lang="en-US" sz="1600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BDC91-FC15-4EA8-A9B2-241E14281A76}"/>
              </a:ext>
            </a:extLst>
          </p:cNvPr>
          <p:cNvSpPr txBox="1"/>
          <p:nvPr/>
        </p:nvSpPr>
        <p:spPr>
          <a:xfrm>
            <a:off x="860943" y="1613993"/>
            <a:ext cx="6949332" cy="50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Chart's Requirements</a:t>
            </a:r>
            <a:endParaRPr lang="en-IN" sz="2000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0D85C4-4CB5-48EF-94FE-6B4E489077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834" y="5328689"/>
            <a:ext cx="4204978" cy="180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624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2000">
              <a:srgbClr val="FFD300"/>
            </a:gs>
            <a:gs pos="100000">
              <a:schemeClr val="accent6">
                <a:lumMod val="60000"/>
                <a:lumOff val="40000"/>
              </a:schemeClr>
            </a:gs>
          </a:gsLst>
          <a:lin ang="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A4DA89-166A-454E-8E0D-EDB775ECE957}"/>
              </a:ext>
            </a:extLst>
          </p:cNvPr>
          <p:cNvSpPr txBox="1"/>
          <p:nvPr/>
        </p:nvSpPr>
        <p:spPr>
          <a:xfrm>
            <a:off x="4042741" y="228599"/>
            <a:ext cx="4106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err="1">
                <a:latin typeface="Arial Black" panose="020B0A04020102020204" pitchFamily="34" charset="0"/>
              </a:rPr>
              <a:t>blink</a:t>
            </a:r>
            <a:r>
              <a:rPr lang="en-IN" sz="3600" dirty="0" err="1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it</a:t>
            </a:r>
            <a:r>
              <a:rPr lang="en-IN" sz="3600" dirty="0">
                <a:latin typeface="Arial Black" panose="020B0A04020102020204" pitchFamily="34" charset="0"/>
              </a:rPr>
              <a:t> Analy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sis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0DAFE28-68D9-4805-9F13-815E5A8A6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419" y="106520"/>
            <a:ext cx="711855" cy="7684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F791B2-50BF-45A2-A04D-2DBF5F39E0F3}"/>
              </a:ext>
            </a:extLst>
          </p:cNvPr>
          <p:cNvSpPr txBox="1"/>
          <p:nvPr/>
        </p:nvSpPr>
        <p:spPr>
          <a:xfrm>
            <a:off x="643337" y="1028802"/>
            <a:ext cx="6949332" cy="577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315496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9E09E0-E592-4C8E-843D-31D174D2DBCA}"/>
              </a:ext>
            </a:extLst>
          </p:cNvPr>
          <p:cNvSpPr txBox="1"/>
          <p:nvPr/>
        </p:nvSpPr>
        <p:spPr>
          <a:xfrm>
            <a:off x="970274" y="2166730"/>
            <a:ext cx="10082040" cy="3133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>
              <a:lnSpc>
                <a:spcPct val="150000"/>
              </a:lnSpc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6. Sales by Outlet Location:</a:t>
            </a:r>
          </a:p>
          <a:p>
            <a:pPr marL="457200" lvl="2">
              <a:lnSpc>
                <a:spcPct val="150000"/>
              </a:lnSpc>
            </a:pPr>
            <a:r>
              <a:rPr lang="en-US" sz="16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Objective: Assess the geographic distribution of sales across different locations.</a:t>
            </a:r>
          </a:p>
          <a:p>
            <a:pPr marL="457200" lvl="2">
              <a:lnSpc>
                <a:spcPct val="150000"/>
              </a:lnSpc>
            </a:pPr>
            <a:r>
              <a:rPr lang="en-US" sz="16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Chart Type: Funnel Map.</a:t>
            </a:r>
          </a:p>
          <a:p>
            <a:pPr marL="0" lvl="2">
              <a:lnSpc>
                <a:spcPct val="150000"/>
              </a:lnSpc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7. All Metrics by Outlet Type:</a:t>
            </a:r>
          </a:p>
          <a:p>
            <a:pPr marL="457200" lvl="2">
              <a:lnSpc>
                <a:spcPct val="150000"/>
              </a:lnSpc>
            </a:pPr>
            <a:r>
              <a:rPr lang="en-US" sz="16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Objective: Provide a comprehensive view of all key metrics (Total Sales, Average Sales, Number of Items, Average Rating) broken down by different outlet types.</a:t>
            </a:r>
          </a:p>
          <a:p>
            <a:pPr marL="457200" lvl="2">
              <a:lnSpc>
                <a:spcPct val="150000"/>
              </a:lnSpc>
            </a:pPr>
            <a:r>
              <a:rPr lang="en-US" sz="16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Chart Type: Matrix Card.</a:t>
            </a:r>
          </a:p>
          <a:p>
            <a:pPr>
              <a:lnSpc>
                <a:spcPct val="150000"/>
              </a:lnSpc>
            </a:pP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BDC91-FC15-4EA8-A9B2-241E14281A76}"/>
              </a:ext>
            </a:extLst>
          </p:cNvPr>
          <p:cNvSpPr txBox="1"/>
          <p:nvPr/>
        </p:nvSpPr>
        <p:spPr>
          <a:xfrm>
            <a:off x="860943" y="1623721"/>
            <a:ext cx="6949332" cy="50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Chart's Requirements</a:t>
            </a:r>
            <a:endParaRPr lang="en-IN" sz="2000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6D33E-78A8-493B-8279-DBC6B92302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834" y="5328689"/>
            <a:ext cx="4204978" cy="180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11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436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Segoe UI Black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ABHISHEK KADDIPUDI</dc:creator>
  <cp:lastModifiedBy>ABHISHEK KADDIPUDI</cp:lastModifiedBy>
  <cp:revision>5</cp:revision>
  <dcterms:created xsi:type="dcterms:W3CDTF">2025-06-18T07:16:27Z</dcterms:created>
  <dcterms:modified xsi:type="dcterms:W3CDTF">2025-06-18T07:59:07Z</dcterms:modified>
</cp:coreProperties>
</file>